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4"/>
    <p:sldId id="268" r:id="rId5"/>
    <p:sldId id="259" r:id="rId6"/>
    <p:sldId id="276" r:id="rId7"/>
    <p:sldId id="260" r:id="rId8"/>
    <p:sldId id="269" r:id="rId9"/>
    <p:sldId id="261" r:id="rId10"/>
    <p:sldId id="270" r:id="rId11"/>
    <p:sldId id="271" r:id="rId12"/>
    <p:sldId id="272" r:id="rId13"/>
    <p:sldId id="262" r:id="rId14"/>
    <p:sldId id="273" r:id="rId15"/>
    <p:sldId id="274" r:id="rId16"/>
    <p:sldId id="275" r:id="rId17"/>
    <p:sldId id="263" r:id="rId18"/>
    <p:sldId id="264" r:id="rId19"/>
    <p:sldId id="265" r:id="rId20"/>
    <p:sldId id="266" r:id="rId21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364" autoAdjust="0"/>
  </p:normalViewPr>
  <p:slideViewPr>
    <p:cSldViewPr>
      <p:cViewPr varScale="1">
        <p:scale>
          <a:sx n="193" d="100"/>
          <a:sy n="193" d="100"/>
        </p:scale>
        <p:origin x="2130" y="1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04882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 dirty="0"/>
          </a:p>
        </p:txBody>
      </p:sp>
      <p:sp>
        <p:nvSpPr>
          <p:cNvPr id="1048825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2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04882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9409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bk object 16"/>
          <p:cNvSpPr/>
          <p:nvPr/>
        </p:nvSpPr>
        <p:spPr>
          <a:xfrm>
            <a:off x="4212183" y="2853629"/>
            <a:ext cx="359951" cy="3594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659" name="bk object 17"/>
          <p:cNvSpPr/>
          <p:nvPr/>
        </p:nvSpPr>
        <p:spPr>
          <a:xfrm>
            <a:off x="0" y="0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0" y="321500"/>
                </a:moveTo>
                <a:lnTo>
                  <a:pt x="4608004" y="321500"/>
                </a:lnTo>
                <a:lnTo>
                  <a:pt x="4608004" y="0"/>
                </a:lnTo>
                <a:lnTo>
                  <a:pt x="0" y="0"/>
                </a:lnTo>
                <a:lnTo>
                  <a:pt x="0" y="32150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660" name="Holder 2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661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62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April 26,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1048663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(Dept. of ECE, VVCE,</a:t>
            </a:r>
            <a:r>
              <a:rPr spc="25" dirty="0"/>
              <a:t> </a:t>
            </a:r>
            <a:r>
              <a:rPr spc="-5" dirty="0"/>
              <a:t>Mysuru)</a:t>
            </a:r>
          </a:p>
        </p:txBody>
      </p:sp>
      <p:sp>
        <p:nvSpPr>
          <p:cNvPr id="1048664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14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bk object 16"/>
          <p:cNvSpPr/>
          <p:nvPr/>
        </p:nvSpPr>
        <p:spPr>
          <a:xfrm>
            <a:off x="4212183" y="2853629"/>
            <a:ext cx="359951" cy="3594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583" name="bk object 17"/>
          <p:cNvSpPr/>
          <p:nvPr/>
        </p:nvSpPr>
        <p:spPr>
          <a:xfrm>
            <a:off x="0" y="0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0" y="321500"/>
                </a:moveTo>
                <a:lnTo>
                  <a:pt x="4608004" y="321500"/>
                </a:lnTo>
                <a:lnTo>
                  <a:pt x="4608004" y="0"/>
                </a:lnTo>
                <a:lnTo>
                  <a:pt x="0" y="0"/>
                </a:lnTo>
                <a:lnTo>
                  <a:pt x="0" y="32150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584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585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586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April 26,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1048587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(Dept. of ECE, VVCE,</a:t>
            </a:r>
            <a:r>
              <a:rPr spc="25" dirty="0"/>
              <a:t> </a:t>
            </a:r>
            <a:r>
              <a:rPr spc="-5" dirty="0"/>
              <a:t>Mysuru)</a:t>
            </a:r>
          </a:p>
        </p:txBody>
      </p:sp>
      <p:sp>
        <p:nvSpPr>
          <p:cNvPr id="1048588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14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818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819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820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April 26,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1048821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(Dept. of ECE, VVCE,</a:t>
            </a:r>
            <a:r>
              <a:rPr spc="25" dirty="0"/>
              <a:t> </a:t>
            </a:r>
            <a:r>
              <a:rPr spc="-5" dirty="0"/>
              <a:t>Mysuru)</a:t>
            </a:r>
          </a:p>
        </p:txBody>
      </p:sp>
      <p:sp>
        <p:nvSpPr>
          <p:cNvPr id="1048822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14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bk object 16"/>
          <p:cNvSpPr/>
          <p:nvPr/>
        </p:nvSpPr>
        <p:spPr>
          <a:xfrm>
            <a:off x="4212183" y="2853629"/>
            <a:ext cx="359951" cy="3594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641" name="bk object 17"/>
          <p:cNvSpPr/>
          <p:nvPr/>
        </p:nvSpPr>
        <p:spPr>
          <a:xfrm>
            <a:off x="0" y="0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0" y="321500"/>
                </a:moveTo>
                <a:lnTo>
                  <a:pt x="4608004" y="321500"/>
                </a:lnTo>
                <a:lnTo>
                  <a:pt x="4608004" y="0"/>
                </a:lnTo>
                <a:lnTo>
                  <a:pt x="0" y="0"/>
                </a:lnTo>
                <a:lnTo>
                  <a:pt x="0" y="32150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64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64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April 26,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104864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(Dept. of ECE, VVCE,</a:t>
            </a:r>
            <a:r>
              <a:rPr spc="25" dirty="0"/>
              <a:t> </a:t>
            </a:r>
            <a:r>
              <a:rPr spc="-5" dirty="0"/>
              <a:t>Mysuru)</a:t>
            </a:r>
          </a:p>
        </p:txBody>
      </p:sp>
      <p:sp>
        <p:nvSpPr>
          <p:cNvPr id="104864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14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April 26,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1048710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(Dept. of ECE, VVCE,</a:t>
            </a:r>
            <a:r>
              <a:rPr spc="25" dirty="0"/>
              <a:t> </a:t>
            </a:r>
            <a:r>
              <a:rPr spc="-5" dirty="0"/>
              <a:t>Mysuru)</a:t>
            </a:r>
          </a:p>
        </p:txBody>
      </p:sp>
      <p:sp>
        <p:nvSpPr>
          <p:cNvPr id="1048711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14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k object 16"/>
          <p:cNvSpPr/>
          <p:nvPr/>
        </p:nvSpPr>
        <p:spPr>
          <a:xfrm>
            <a:off x="4212183" y="2853629"/>
            <a:ext cx="359951" cy="3594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577" name="Holder 2"/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578" name="Holder 3"/>
          <p:cNvSpPr>
            <a:spLocks noGrp="1"/>
          </p:cNvSpPr>
          <p:nvPr>
            <p:ph type="body" idx="1"/>
          </p:nvPr>
        </p:nvSpPr>
        <p:spPr>
          <a:xfrm>
            <a:off x="125844" y="928432"/>
            <a:ext cx="4358411" cy="1644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579" name="Holder 4"/>
          <p:cNvSpPr>
            <a:spLocks noGrp="1"/>
          </p:cNvSpPr>
          <p:nvPr>
            <p:ph type="ftr" sz="quarter" idx="5"/>
          </p:nvPr>
        </p:nvSpPr>
        <p:spPr>
          <a:xfrm>
            <a:off x="3641216" y="3331252"/>
            <a:ext cx="495300" cy="120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April 26,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1048580" name="Holder 5"/>
          <p:cNvSpPr>
            <a:spLocks noGrp="1"/>
          </p:cNvSpPr>
          <p:nvPr>
            <p:ph type="dt" sz="half" idx="6"/>
          </p:nvPr>
        </p:nvSpPr>
        <p:spPr>
          <a:xfrm>
            <a:off x="256527" y="3331252"/>
            <a:ext cx="1065530" cy="120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(Dept. of ECE, VVCE,</a:t>
            </a:r>
            <a:r>
              <a:rPr spc="25" dirty="0"/>
              <a:t> </a:t>
            </a:r>
            <a:r>
              <a:rPr spc="-5" dirty="0"/>
              <a:t>Mysuru)</a:t>
            </a:r>
          </a:p>
        </p:txBody>
      </p:sp>
      <p:sp>
        <p:nvSpPr>
          <p:cNvPr id="1048581" name="Holder 6"/>
          <p:cNvSpPr>
            <a:spLocks noGrp="1"/>
          </p:cNvSpPr>
          <p:nvPr>
            <p:ph type="sldNum" sz="quarter" idx="7"/>
          </p:nvPr>
        </p:nvSpPr>
        <p:spPr>
          <a:xfrm>
            <a:off x="4270990" y="3331252"/>
            <a:ext cx="270510" cy="120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14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Weather_radar" TargetMode="External"/><Relationship Id="rId3" Type="http://schemas.openxmlformats.org/officeDocument/2006/relationships/hyperlink" Target="https://en.wikipedia.org/wiki/Aircraft" TargetMode="External"/><Relationship Id="rId7" Type="http://schemas.openxmlformats.org/officeDocument/2006/relationships/hyperlink" Target="https://en.wikipedia.org/wiki/Motor_vehicle" TargetMode="External"/><Relationship Id="rId2" Type="http://schemas.openxmlformats.org/officeDocument/2006/relationships/hyperlink" Target="https://en.wikipedia.org/wiki/Radio_wav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Guided_missiles" TargetMode="External"/><Relationship Id="rId5" Type="http://schemas.openxmlformats.org/officeDocument/2006/relationships/hyperlink" Target="https://en.wikipedia.org/wiki/Spacecraft" TargetMode="External"/><Relationship Id="rId4" Type="http://schemas.openxmlformats.org/officeDocument/2006/relationships/hyperlink" Target="https://en.wikipedia.org/wiki/Marine_radar" TargetMode="External"/><Relationship Id="rId9" Type="http://schemas.openxmlformats.org/officeDocument/2006/relationships/hyperlink" Target="https://en.wikipedia.org/wiki/Terrain-following_radar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en.wikipedia.org/wiki/File:Radar_antenna.jpg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hyperlink" Target="https://en.wikipedia.org/wiki/File:Radar-hatzerim-1-1.jp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en.wikipedia.org/wiki/File:Early_radar_antenna_-_US_Naval_Research_Laboratory_Anacostia.jpg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hyperlink" Target="https://en.wikipedia.org/wiki/File:Watson_Radar.jpg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2.jpeg"/><Relationship Id="rId2" Type="http://schemas.openxmlformats.org/officeDocument/2006/relationships/hyperlink" Target="https://en.wikipedia.org/wiki/File:TEIDE.JPG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File:Radar_screen.JPG" TargetMode="External"/><Relationship Id="rId5" Type="http://schemas.openxmlformats.org/officeDocument/2006/relationships/image" Target="../media/image11.jpeg"/><Relationship Id="rId4" Type="http://schemas.openxmlformats.org/officeDocument/2006/relationships/hyperlink" Target="https://en.wikipedia.org/wiki/File:Radarimg.jp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en.wikipedia.org/wiki/File:WaveMeasurementsShips.png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en.wikipedia.org/wiki/File:Image-GBU-24_Missile_testmontage-gi_BLU-109_bomb.jpg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hyperlink" Target="https://en.wikipedia.org/wiki/File:ATL-Tower.jpg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en.wikipedia.org/wiki/File:Pulse_doppler_signal_processing.png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object 2"/>
          <p:cNvSpPr/>
          <p:nvPr/>
        </p:nvSpPr>
        <p:spPr>
          <a:xfrm>
            <a:off x="87743" y="197421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0" name="object 3"/>
          <p:cNvSpPr/>
          <p:nvPr/>
        </p:nvSpPr>
        <p:spPr>
          <a:xfrm>
            <a:off x="138544" y="532701"/>
            <a:ext cx="101599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1" name="object 4"/>
          <p:cNvSpPr/>
          <p:nvPr/>
        </p:nvSpPr>
        <p:spPr>
          <a:xfrm>
            <a:off x="189344" y="520001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2" name="object 5"/>
          <p:cNvSpPr/>
          <p:nvPr/>
        </p:nvSpPr>
        <p:spPr>
          <a:xfrm>
            <a:off x="4520310" y="247992"/>
            <a:ext cx="50749" cy="2847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3" name="object 6"/>
          <p:cNvSpPr/>
          <p:nvPr/>
        </p:nvSpPr>
        <p:spPr>
          <a:xfrm>
            <a:off x="87743" y="241844"/>
            <a:ext cx="4432935" cy="342265"/>
          </a:xfrm>
          <a:custGeom>
            <a:avLst/>
            <a:gdLst/>
            <a:ahLst/>
            <a:cxnLst/>
            <a:rect l="l" t="t" r="r" b="b"/>
            <a:pathLst>
              <a:path w="4432935" h="342265">
                <a:moveTo>
                  <a:pt x="4432567" y="0"/>
                </a:moveTo>
                <a:lnTo>
                  <a:pt x="0" y="0"/>
                </a:lnTo>
                <a:lnTo>
                  <a:pt x="0" y="290856"/>
                </a:lnTo>
                <a:lnTo>
                  <a:pt x="4008" y="310581"/>
                </a:lnTo>
                <a:lnTo>
                  <a:pt x="14922" y="326734"/>
                </a:lnTo>
                <a:lnTo>
                  <a:pt x="31075" y="337648"/>
                </a:lnTo>
                <a:lnTo>
                  <a:pt x="50800" y="341657"/>
                </a:lnTo>
                <a:lnTo>
                  <a:pt x="4381767" y="341657"/>
                </a:lnTo>
                <a:lnTo>
                  <a:pt x="4401492" y="337648"/>
                </a:lnTo>
                <a:lnTo>
                  <a:pt x="4417644" y="326734"/>
                </a:lnTo>
                <a:lnTo>
                  <a:pt x="4428558" y="310581"/>
                </a:lnTo>
                <a:lnTo>
                  <a:pt x="4432567" y="290856"/>
                </a:lnTo>
                <a:lnTo>
                  <a:pt x="443256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4" name="object 7"/>
          <p:cNvSpPr/>
          <p:nvPr/>
        </p:nvSpPr>
        <p:spPr>
          <a:xfrm>
            <a:off x="4520310" y="286082"/>
            <a:ext cx="0" cy="266065"/>
          </a:xfrm>
          <a:custGeom>
            <a:avLst/>
            <a:gdLst/>
            <a:ahLst/>
            <a:cxnLst/>
            <a:rect l="l" t="t" r="r" b="b"/>
            <a:pathLst>
              <a:path h="266065">
                <a:moveTo>
                  <a:pt x="0" y="26566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5" name="object 8"/>
          <p:cNvSpPr/>
          <p:nvPr/>
        </p:nvSpPr>
        <p:spPr>
          <a:xfrm>
            <a:off x="4520310" y="273381"/>
            <a:ext cx="0" cy="13335"/>
          </a:xfrm>
          <a:custGeom>
            <a:avLst/>
            <a:gdLst/>
            <a:ahLst/>
            <a:cxnLst/>
            <a:rect l="l" t="t" r="r" b="b"/>
            <a:pathLst>
              <a:path h="13335">
                <a:moveTo>
                  <a:pt x="0" y="12701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6" name="object 9"/>
          <p:cNvSpPr/>
          <p:nvPr/>
        </p:nvSpPr>
        <p:spPr>
          <a:xfrm>
            <a:off x="4520310" y="26068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7" name="object 10"/>
          <p:cNvSpPr/>
          <p:nvPr/>
        </p:nvSpPr>
        <p:spPr>
          <a:xfrm>
            <a:off x="4520310" y="24798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8" name="object 11"/>
          <p:cNvSpPr txBox="1">
            <a:spLocks noGrp="1"/>
          </p:cNvSpPr>
          <p:nvPr>
            <p:ph type="title"/>
          </p:nvPr>
        </p:nvSpPr>
        <p:spPr>
          <a:xfrm>
            <a:off x="240143" y="240573"/>
            <a:ext cx="4181068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MILITARY RADAR</a:t>
            </a:r>
            <a:b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9" name="object 12"/>
          <p:cNvSpPr txBox="1"/>
          <p:nvPr/>
        </p:nvSpPr>
        <p:spPr>
          <a:xfrm>
            <a:off x="71500" y="654442"/>
            <a:ext cx="4042322" cy="731226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379095" algn="ctr">
              <a:lnSpc>
                <a:spcPct val="101299"/>
              </a:lnSpc>
              <a:spcBef>
                <a:spcPts val="70"/>
              </a:spcBef>
              <a:tabLst>
                <a:tab pos="1001394" algn="l"/>
              </a:tabLst>
            </a:pPr>
            <a:r>
              <a:rPr lang="en-IN"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1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379095" algn="ctr">
              <a:lnSpc>
                <a:spcPct val="101299"/>
              </a:lnSpc>
              <a:spcBef>
                <a:spcPts val="70"/>
              </a:spcBef>
              <a:tabLst>
                <a:tab pos="1001394" algn="l"/>
              </a:tabLst>
            </a:pPr>
            <a:r>
              <a:rPr lang="en-US"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 out by</a:t>
            </a:r>
          </a:p>
          <a:p>
            <a:pPr marL="12700" marR="5080" indent="379095" algn="ctr">
              <a:lnSpc>
                <a:spcPct val="101299"/>
              </a:lnSpc>
              <a:spcBef>
                <a:spcPts val="70"/>
              </a:spcBef>
              <a:tabLst>
                <a:tab pos="1001394" algn="l"/>
              </a:tabLst>
            </a:pPr>
            <a:r>
              <a:rPr lang="en-IN" sz="1100" b="1" spc="-2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SHUBODAYA H N	</a:t>
            </a:r>
          </a:p>
          <a:p>
            <a:pPr marL="12700" marR="5080" indent="379095" algn="ctr">
              <a:lnSpc>
                <a:spcPct val="101299"/>
              </a:lnSpc>
              <a:spcBef>
                <a:spcPts val="70"/>
              </a:spcBef>
              <a:tabLst>
                <a:tab pos="1001394" algn="l"/>
              </a:tabLst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guidance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endParaRPr lang="en-US" sz="11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1" name="object 14"/>
          <p:cNvSpPr txBox="1"/>
          <p:nvPr/>
        </p:nvSpPr>
        <p:spPr>
          <a:xfrm>
            <a:off x="1265335" y="1482274"/>
            <a:ext cx="1957128" cy="5557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96215" marR="5080" indent="-184150" algn="ctr">
              <a:lnSpc>
                <a:spcPct val="102600"/>
              </a:lnSpc>
              <a:spcBef>
                <a:spcPts val="55"/>
              </a:spcBef>
            </a:pPr>
            <a:r>
              <a:rPr lang="en-IN"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SUREKHA T P</a:t>
            </a:r>
          </a:p>
          <a:p>
            <a:pPr marL="196215" marR="5080" indent="-184150" algn="ctr">
              <a:lnSpc>
                <a:spcPct val="102600"/>
              </a:lnSpc>
              <a:spcBef>
                <a:spcPts val="55"/>
              </a:spcBef>
            </a:pPr>
            <a:r>
              <a:rPr lang="en-US"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marL="196215" marR="5080" indent="-184150" algn="ctr">
              <a:lnSpc>
                <a:spcPct val="102600"/>
              </a:lnSpc>
              <a:spcBef>
                <a:spcPts val="55"/>
              </a:spcBef>
            </a:pPr>
            <a:r>
              <a:rPr lang="en-US"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ECE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2" name="object 15"/>
          <p:cNvSpPr/>
          <p:nvPr/>
        </p:nvSpPr>
        <p:spPr>
          <a:xfrm>
            <a:off x="1944057" y="2050844"/>
            <a:ext cx="719902" cy="7195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3" name="object 16"/>
          <p:cNvSpPr txBox="1"/>
          <p:nvPr/>
        </p:nvSpPr>
        <p:spPr>
          <a:xfrm>
            <a:off x="265556" y="2792425"/>
            <a:ext cx="3956685" cy="357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285"/>
              </a:lnSpc>
              <a:spcBef>
                <a:spcPts val="90"/>
              </a:spcBef>
            </a:pPr>
            <a:r>
              <a:rPr sz="11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and Communication</a:t>
            </a:r>
            <a:r>
              <a:rPr sz="11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405"/>
              </a:lnSpc>
            </a:pPr>
            <a:r>
              <a:rPr sz="12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Vidyavardhaka </a:t>
            </a:r>
            <a:r>
              <a:rPr sz="1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of Engineering,</a:t>
            </a:r>
            <a:r>
              <a:rPr sz="12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4" name="object 17"/>
          <p:cNvSpPr/>
          <p:nvPr/>
        </p:nvSpPr>
        <p:spPr>
          <a:xfrm>
            <a:off x="0" y="3326968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2"/>
                </a:moveTo>
                <a:lnTo>
                  <a:pt x="1535976" y="129032"/>
                </a:lnTo>
                <a:lnTo>
                  <a:pt x="1535976" y="0"/>
                </a:lnTo>
                <a:lnTo>
                  <a:pt x="0" y="0"/>
                </a:lnTo>
                <a:lnTo>
                  <a:pt x="0" y="12903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18"/>
          <p:cNvSpPr/>
          <p:nvPr/>
        </p:nvSpPr>
        <p:spPr>
          <a:xfrm>
            <a:off x="1535976" y="3326968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76" y="129031"/>
                </a:lnTo>
                <a:lnTo>
                  <a:pt x="1535976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6" name="object 19"/>
          <p:cNvSpPr/>
          <p:nvPr/>
        </p:nvSpPr>
        <p:spPr>
          <a:xfrm>
            <a:off x="3071952" y="3326968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76" y="129031"/>
                </a:lnTo>
                <a:lnTo>
                  <a:pt x="1535976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7" name="object 20"/>
          <p:cNvSpPr txBox="1">
            <a:spLocks noGrp="1"/>
          </p:cNvSpPr>
          <p:nvPr>
            <p:ph type="dt" sz="half" idx="6"/>
          </p:nvPr>
        </p:nvSpPr>
        <p:spPr>
          <a:xfrm>
            <a:off x="256527" y="3331252"/>
            <a:ext cx="1065530" cy="10131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(Dept. of ECE, VVCE,</a:t>
            </a:r>
            <a:r>
              <a:rPr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Mysuru)</a:t>
            </a:r>
          </a:p>
        </p:txBody>
      </p:sp>
      <p:sp>
        <p:nvSpPr>
          <p:cNvPr id="1048608" name="object 21"/>
          <p:cNvSpPr txBox="1"/>
          <p:nvPr/>
        </p:nvSpPr>
        <p:spPr>
          <a:xfrm>
            <a:off x="1802096" y="3339808"/>
            <a:ext cx="1107960" cy="11669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z="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Processing Unit</a:t>
            </a:r>
            <a:endParaRPr sz="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9" name="object 22"/>
          <p:cNvSpPr txBox="1"/>
          <p:nvPr/>
        </p:nvSpPr>
        <p:spPr>
          <a:xfrm>
            <a:off x="3222463" y="3331252"/>
            <a:ext cx="956268" cy="10131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z="6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May, </a:t>
            </a:r>
            <a:r>
              <a:rPr sz="600" spc="-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6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0" name="object 23"/>
          <p:cNvSpPr txBox="1"/>
          <p:nvPr/>
        </p:nvSpPr>
        <p:spPr>
          <a:xfrm>
            <a:off x="4313204" y="3331252"/>
            <a:ext cx="228600" cy="10131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6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r>
              <a:rPr sz="6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sz="600" spc="-7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600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/>
              <a:t>INRODUCTION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300" y="587375"/>
            <a:ext cx="4358411" cy="1938992"/>
          </a:xfrm>
        </p:spPr>
        <p:txBody>
          <a:bodyPr/>
          <a:lstStyle/>
          <a:p>
            <a:r>
              <a:rPr lang="en-US" dirty="0"/>
              <a:t>What is a radar?</a:t>
            </a:r>
          </a:p>
          <a:p>
            <a:r>
              <a:rPr lang="en-US" dirty="0"/>
              <a:t>Radar is a detection system that uses </a:t>
            </a:r>
            <a:r>
              <a:rPr lang="en-US" dirty="0">
                <a:hlinkClick r:id="rId2" tooltip="Radio wave"/>
              </a:rPr>
              <a:t>radio waves</a:t>
            </a:r>
            <a:r>
              <a:rPr lang="en-US" dirty="0"/>
              <a:t> to determine the range, angle, or velocity of objects. It can be used to detect </a:t>
            </a:r>
            <a:r>
              <a:rPr lang="en-US" dirty="0">
                <a:hlinkClick r:id="rId3" tooltip="Aircraft"/>
              </a:rPr>
              <a:t>aircraft</a:t>
            </a:r>
            <a:r>
              <a:rPr lang="en-US" dirty="0"/>
              <a:t>, </a:t>
            </a:r>
            <a:r>
              <a:rPr lang="en-US" dirty="0">
                <a:hlinkClick r:id="rId4" tooltip="Marine radar"/>
              </a:rPr>
              <a:t>ships</a:t>
            </a:r>
            <a:r>
              <a:rPr lang="en-US" dirty="0"/>
              <a:t>, </a:t>
            </a:r>
            <a:r>
              <a:rPr lang="en-US" dirty="0">
                <a:hlinkClick r:id="rId5" tooltip="Spacecraft"/>
              </a:rPr>
              <a:t>spacecraft</a:t>
            </a:r>
            <a:r>
              <a:rPr lang="en-US" dirty="0"/>
              <a:t>, </a:t>
            </a:r>
            <a:r>
              <a:rPr lang="en-US" dirty="0">
                <a:hlinkClick r:id="rId6" tooltip="Guided missiles"/>
              </a:rPr>
              <a:t>guided missiles</a:t>
            </a:r>
            <a:r>
              <a:rPr lang="en-US" dirty="0"/>
              <a:t>, </a:t>
            </a:r>
            <a:r>
              <a:rPr lang="en-US" dirty="0">
                <a:hlinkClick r:id="rId7" tooltip="Motor vehicle"/>
              </a:rPr>
              <a:t>motor vehicles</a:t>
            </a:r>
            <a:r>
              <a:rPr lang="en-US" dirty="0"/>
              <a:t>, </a:t>
            </a:r>
            <a:r>
              <a:rPr lang="en-US" dirty="0">
                <a:hlinkClick r:id="rId8" tooltip="Weather radar"/>
              </a:rPr>
              <a:t>weather formations</a:t>
            </a:r>
            <a:r>
              <a:rPr lang="en-US" dirty="0"/>
              <a:t>, and </a:t>
            </a:r>
            <a:r>
              <a:rPr lang="en-US" dirty="0">
                <a:hlinkClick r:id="rId9" tooltip="Terrain-following radar"/>
              </a:rPr>
              <a:t>terrain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895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421005" y="2339975"/>
            <a:ext cx="3227070" cy="553998"/>
          </a:xfrm>
        </p:spPr>
        <p:txBody>
          <a:bodyPr/>
          <a:lstStyle/>
          <a:p>
            <a:pPr marL="342900" indent="-34290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range radar antenna</a:t>
            </a:r>
          </a:p>
          <a:p>
            <a:pPr marL="342900" indent="-34290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for detection of aircraft</a:t>
            </a:r>
          </a:p>
        </p:txBody>
      </p:sp>
      <p:pic>
        <p:nvPicPr>
          <p:cNvPr id="4" name="Picture 3" descr="A long-range radar antenna, known as ALTAIR, used to detect and track space objects in conjunction with ABM testing at the Ronald Reagan Test Site on Kwajalein Atoll.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42" y="547297"/>
            <a:ext cx="1266825" cy="162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Israeli military radar is typical of the type of radar used for air traffic control. The antenna rotates at a steady rate, sweeping the local airspace with a narrow vertical fan-shaped beam, to detect aircraft at all altitudes.">
            <a:hlinkClick r:id="rId4"/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547297"/>
            <a:ext cx="1314450" cy="15736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180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HISTORY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458178" y="2644775"/>
            <a:ext cx="3709035" cy="430887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Experimental radar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First workable unit built by Robert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watson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https://upload.wikimedia.org/wikipedia/commons/thumb/5/5e/Early_radar_antenna_-_US_Naval_Research_Laboratory_Anacostia.jpg/180px-Early_radar_antenna_-_US_Naval_Research_Laboratory_Anacostia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78" y="739775"/>
            <a:ext cx="1371600" cy="1770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https://upload.wikimedia.org/wikipedia/commons/thumb/a/ae/Watson_Radar.jpg/220px-Watson_Radar.jpg">
            <a:hlinkClick r:id="rId4"/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938371"/>
            <a:ext cx="2095500" cy="1571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9293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300" y="358775"/>
            <a:ext cx="4358411" cy="2954655"/>
          </a:xfrm>
        </p:spPr>
        <p:txBody>
          <a:bodyPr/>
          <a:lstStyle/>
          <a:p>
            <a:pPr marL="228600" indent="-228600">
              <a:buAutoNum type="arabicParenR"/>
            </a:pPr>
            <a:r>
              <a:rPr lang="en-US" sz="1200" dirty="0"/>
              <a:t>In paper one MIMO radar is used to improve the performance of joint estimation of direction of arrival and departure.</a:t>
            </a:r>
          </a:p>
          <a:p>
            <a:pPr marL="228600" indent="-228600">
              <a:buAutoNum type="arabicParenR"/>
            </a:pPr>
            <a:r>
              <a:rPr lang="en-US" sz="1200" dirty="0"/>
              <a:t>In paper two short range application is used which has sufficient time to switch between antenna elements as an alternative for more complex implementations.</a:t>
            </a:r>
          </a:p>
          <a:p>
            <a:pPr marL="228600" indent="-228600">
              <a:buAutoNum type="arabicParenR"/>
            </a:pPr>
            <a:r>
              <a:rPr lang="en-US" sz="1200" dirty="0"/>
              <a:t>In paper three ultra spread linear systems is used whose response lie within a unit area region in the delay-Doppler space.</a:t>
            </a:r>
          </a:p>
          <a:p>
            <a:pPr marL="228600" indent="-228600">
              <a:buAutoNum type="arabicParenR"/>
            </a:pPr>
            <a:r>
              <a:rPr lang="en-US" sz="1200" dirty="0"/>
              <a:t>In paper four research for various radar application is discussed such as medical, airborne, automobile and much more.</a:t>
            </a:r>
          </a:p>
          <a:p>
            <a:pPr marL="228600" indent="-228600">
              <a:buAutoNum type="arabicParenR"/>
            </a:pPr>
            <a:r>
              <a:rPr lang="en-US" sz="1200" dirty="0"/>
              <a:t>In paper five military activities such as administrating in arranging, coordinating, planning, and controlling the game plan, through strategic photo of fight space and interchanges availability.</a:t>
            </a:r>
          </a:p>
          <a:p>
            <a:pPr marL="228600" indent="-228600">
              <a:buAutoNum type="arabicParenR"/>
            </a:pPr>
            <a:r>
              <a:rPr lang="en-US" sz="1200" dirty="0"/>
              <a:t>In paper six, development of parametric OFDM radar model by  reformulating the target detection problem as the task of sparse signal spectrum estimation.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68953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71450" y="511175"/>
            <a:ext cx="4343348" cy="1508105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In paper seven, radar data are used to locate areas of interest on images. Two different statistics, frame-based and event-based, are computed to evaluate the method efficiency.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 In paper eight, a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sparsity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approach to track multiple targets in a region of interest using an orthogonal-frequency-division multiplexing (OFDM) radar. </a:t>
            </a:r>
          </a:p>
        </p:txBody>
      </p:sp>
    </p:spTree>
    <p:extLst>
      <p:ext uri="{BB962C8B-B14F-4D97-AF65-F5344CB8AC3E}">
        <p14:creationId xmlns:p14="http://schemas.microsoft.com/office/powerpoint/2010/main" val="1988515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4"/>
              </p:nvPr>
            </p:nvSpPr>
            <p:spPr>
              <a:xfrm>
                <a:off x="171450" y="358775"/>
                <a:ext cx="3227070" cy="2989473"/>
              </a:xfrm>
            </p:spPr>
            <p:txBody>
              <a:bodyPr/>
              <a:lstStyle/>
              <a:p>
                <a:pPr marL="342900" indent="-342900">
                  <a:buAutoNum type="arabicParenR"/>
                </a:pPr>
                <a:r>
                  <a:rPr lang="en-US" dirty="0"/>
                  <a:t>Illumination</a:t>
                </a:r>
              </a:p>
              <a:p>
                <a:pPr marL="342900" indent="-342900">
                  <a:buAutoNum type="arabicParenR"/>
                </a:pPr>
                <a:r>
                  <a:rPr lang="en-US" dirty="0"/>
                  <a:t>Reflection</a:t>
                </a:r>
              </a:p>
              <a:p>
                <a:pPr marL="342900" indent="-342900">
                  <a:buAutoNum type="arabicParenR"/>
                </a:pPr>
                <a:r>
                  <a:rPr lang="en-US" dirty="0"/>
                  <a:t>Radar range equation</a:t>
                </a:r>
              </a:p>
              <a:p>
                <a:r>
                  <a:rPr lang="en-US" dirty="0"/>
                  <a:t>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4)   Plot and track extraction</a:t>
                </a:r>
              </a:p>
              <a:p>
                <a:pPr marL="342900" indent="-342900">
                  <a:buAutoNum type="arabicParenR" startAt="5"/>
                </a:pPr>
                <a:r>
                  <a:rPr lang="en-US" dirty="0"/>
                  <a:t>Radar components</a:t>
                </a:r>
              </a:p>
              <a:p>
                <a:pPr marL="342900" indent="-342900">
                  <a:buAutoNum type="arabicParenR" startAt="5"/>
                </a:pPr>
                <a:r>
                  <a:rPr lang="en-US" dirty="0"/>
                  <a:t>Type of scan</a:t>
                </a:r>
              </a:p>
              <a:p>
                <a:pPr marL="342900" indent="-342900">
                  <a:buAutoNum type="arabicParenR" startAt="5"/>
                </a:pPr>
                <a:r>
                  <a:rPr lang="en-US" dirty="0"/>
                  <a:t>Frequency bands </a:t>
                </a:r>
              </a:p>
              <a:p>
                <a:pPr marL="342900" indent="-342900">
                  <a:buAutoNum type="arabicParenR" startAt="5"/>
                </a:pPr>
                <a:r>
                  <a:rPr lang="en-US" dirty="0"/>
                  <a:t>Coolant</a:t>
                </a:r>
              </a:p>
              <a:p>
                <a:pPr marL="342900" indent="-342900">
                  <a:buAutoNum type="arabicParenR" startAt="5"/>
                </a:pPr>
                <a:r>
                  <a:rPr lang="en-US" dirty="0"/>
                  <a:t>Regulations</a:t>
                </a: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"/>
              </p:nvPr>
            </p:nvSpPr>
            <p:spPr>
              <a:xfrm>
                <a:off x="171450" y="358775"/>
                <a:ext cx="3227070" cy="2989473"/>
              </a:xfrm>
              <a:blipFill rotWithShape="0">
                <a:blip r:embed="rId2"/>
                <a:stretch>
                  <a:fillRect l="-4340" t="-2653" b="-3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30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https://upload.wikimedia.org/wikipedia/commons/thumb/3/38/Radar_composantes.svg/1024px-Radar_composantes.sv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1009"/>
            <a:ext cx="4667250" cy="32534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8110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/>
              <a:t>APPLICATION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87" y="511175"/>
            <a:ext cx="4358411" cy="3046988"/>
          </a:xfrm>
        </p:spPr>
        <p:txBody>
          <a:bodyPr/>
          <a:lstStyle/>
          <a:p>
            <a:pPr marL="342900" indent="-342900">
              <a:buAutoNum type="arabicParenR"/>
            </a:pPr>
            <a:r>
              <a:rPr lang="en-US" dirty="0"/>
              <a:t>Terrain following radar</a:t>
            </a:r>
          </a:p>
          <a:p>
            <a:pPr marL="342900" indent="-342900">
              <a:buAutoNum type="arabicParenR"/>
            </a:pPr>
            <a:r>
              <a:rPr lang="en-US" dirty="0"/>
              <a:t>Imaging radar</a:t>
            </a:r>
          </a:p>
          <a:p>
            <a:pPr marL="342900" indent="-342900">
              <a:buAutoNum type="arabicParenR"/>
            </a:pPr>
            <a:r>
              <a:rPr lang="en-US" dirty="0"/>
              <a:t>Radar navigation</a:t>
            </a:r>
          </a:p>
          <a:p>
            <a:pPr marL="342900" indent="-342900">
              <a:buAutoNum type="arabicParenR"/>
            </a:pPr>
            <a:r>
              <a:rPr lang="en-US" dirty="0"/>
              <a:t>Wave radar</a:t>
            </a:r>
          </a:p>
          <a:p>
            <a:pPr marL="342900" indent="-342900">
              <a:buAutoNum type="arabicParenR"/>
            </a:pPr>
            <a:r>
              <a:rPr lang="en-US" dirty="0"/>
              <a:t>Ground surveillance</a:t>
            </a:r>
          </a:p>
          <a:p>
            <a:pPr marL="342900" indent="-342900">
              <a:buAutoNum type="arabicParenR"/>
            </a:pPr>
            <a:r>
              <a:rPr lang="en-US" dirty="0"/>
              <a:t>Missile guidance</a:t>
            </a:r>
          </a:p>
          <a:p>
            <a:pPr marL="342900" indent="-342900">
              <a:buAutoNum type="arabicParenR"/>
            </a:pPr>
            <a:r>
              <a:rPr lang="en-US" dirty="0"/>
              <a:t>Fire control radar</a:t>
            </a:r>
          </a:p>
          <a:p>
            <a:pPr marL="342900" indent="-342900">
              <a:buAutoNum type="arabicParenR"/>
            </a:pPr>
            <a:r>
              <a:rPr lang="en-US" dirty="0"/>
              <a:t>Air traffic control</a:t>
            </a:r>
          </a:p>
          <a:p>
            <a:pPr marL="342900" indent="-342900">
              <a:buAutoNum type="arabicParenR"/>
            </a:pPr>
            <a:r>
              <a:rPr lang="en-US" dirty="0"/>
              <a:t>Moving target indication</a:t>
            </a:r>
          </a:p>
          <a:p>
            <a:pPr marL="342900" indent="-342900">
              <a:buAutoNum type="arabicParenR"/>
            </a:pPr>
            <a:r>
              <a:rPr lang="en-US" dirty="0"/>
              <a:t>Weapon locating radar</a:t>
            </a:r>
          </a:p>
          <a:p>
            <a:pPr marL="342900" indent="-34290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523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689738" y="2196621"/>
            <a:ext cx="3227070" cy="830997"/>
          </a:xfrm>
        </p:spPr>
        <p:txBody>
          <a:bodyPr/>
          <a:lstStyle/>
          <a:p>
            <a:pPr marL="342900" indent="-34290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imaging</a:t>
            </a:r>
          </a:p>
          <a:p>
            <a:pPr marL="342900" indent="-34290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navigation</a:t>
            </a:r>
          </a:p>
          <a:p>
            <a:pPr marL="342900" indent="-34290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using motion platform</a:t>
            </a:r>
          </a:p>
        </p:txBody>
      </p:sp>
      <p:pic>
        <p:nvPicPr>
          <p:cNvPr id="5" name="Picture 4" descr="https://upload.wikimedia.org/wikipedia/commons/thumb/a/a8/TEIDE.JPG/220px-TEIDE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610950"/>
            <a:ext cx="1143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ttps://upload.wikimedia.org/wikipedia/commons/thumb/c/cf/Radarimg.jpg/220px-Radarimg.jpg">
            <a:hlinkClick r:id="rId4"/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165" y="446881"/>
            <a:ext cx="1384935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https://upload.wikimedia.org/wikipedia/commons/thumb/0/0d/Radar_screen.JPG/300px-Radar_screen.JPG">
            <a:hlinkClick r:id="rId6"/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706" y="663575"/>
            <a:ext cx="1461135" cy="11510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2602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552450" y="2321425"/>
            <a:ext cx="3227070" cy="553998"/>
          </a:xfrm>
        </p:spPr>
        <p:txBody>
          <a:bodyPr/>
          <a:lstStyle/>
          <a:p>
            <a:pPr marL="342900" indent="-34290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 radar</a:t>
            </a:r>
          </a:p>
          <a:p>
            <a:pPr marL="342900" indent="-34290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surveillance radar</a:t>
            </a:r>
          </a:p>
        </p:txBody>
      </p:sp>
      <p:pic>
        <p:nvPicPr>
          <p:cNvPr id="4" name="Picture 3" descr="https://upload.wikimedia.org/wikipedia/en/thumb/e/ef/WaveMeasurementsShips.png/220px-WaveMeasurementsShips.pn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434975"/>
            <a:ext cx="2038350" cy="1681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https://www.terma.com/media/265354/1002_eckernf_rde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49" y="587375"/>
            <a:ext cx="2062163" cy="16046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9749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543050" y="2263775"/>
            <a:ext cx="3227070" cy="553998"/>
          </a:xfrm>
        </p:spPr>
        <p:txBody>
          <a:bodyPr/>
          <a:lstStyle/>
          <a:p>
            <a:pPr marL="342900" indent="-34290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Missile guidance</a:t>
            </a:r>
          </a:p>
          <a:p>
            <a:pPr marL="342900" indent="-34290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control</a:t>
            </a:r>
          </a:p>
        </p:txBody>
      </p:sp>
      <p:pic>
        <p:nvPicPr>
          <p:cNvPr id="4" name="Picture 3" descr="https://upload.wikimedia.org/wikipedia/commons/thumb/6/68/Image-GBU-24_Missile_testmontage-gi_BLU-109_bomb.jpg/300px-Image-GBU-24_Missile_testmontage-gi_BLU-109_bomb.jpg">
            <a:hlinkClick r:id="rId2"/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434975"/>
            <a:ext cx="10668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https://upload.wikimedia.org/wikipedia/commons/thumb/4/4a/ATL-Tower.jpg/170px-ATL-Tower.jpg">
            <a:hlinkClick r:id="rId4"/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434975"/>
            <a:ext cx="1190625" cy="1514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2961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323850" y="358775"/>
            <a:ext cx="3810000" cy="3231654"/>
          </a:xfrm>
        </p:spPr>
        <p:txBody>
          <a:bodyPr/>
          <a:lstStyle/>
          <a:p>
            <a:pPr marL="342900" indent="-342900">
              <a:buAutoNum type="arabicParenR"/>
            </a:pPr>
            <a:r>
              <a:rPr lang="en-US" sz="1600" dirty="0"/>
              <a:t>Doppler effect</a:t>
            </a:r>
          </a:p>
          <a:p>
            <a:pPr marL="342900" indent="-342900">
              <a:buAutoNum type="arabicParenR"/>
            </a:pPr>
            <a:r>
              <a:rPr lang="en-US" sz="1600" dirty="0"/>
              <a:t>Polarization</a:t>
            </a:r>
          </a:p>
          <a:p>
            <a:pPr marL="342900" indent="-342900">
              <a:buAutoNum type="arabicParenR"/>
            </a:pPr>
            <a:r>
              <a:rPr lang="en-US" sz="1600" dirty="0"/>
              <a:t>Limiting factor</a:t>
            </a:r>
          </a:p>
          <a:p>
            <a:pPr marL="342900" indent="-342900">
              <a:buAutoNum type="arabicParenR"/>
            </a:pPr>
            <a:r>
              <a:rPr lang="en-US" sz="1600" dirty="0"/>
              <a:t>Noise</a:t>
            </a:r>
          </a:p>
          <a:p>
            <a:pPr marL="342900" indent="-342900">
              <a:buAutoNum type="arabicParenR"/>
            </a:pPr>
            <a:r>
              <a:rPr lang="en-US" sz="1600" dirty="0"/>
              <a:t>Interference</a:t>
            </a:r>
          </a:p>
          <a:p>
            <a:pPr marL="342900" indent="-342900">
              <a:buAutoNum type="arabicParenR"/>
            </a:pPr>
            <a:r>
              <a:rPr lang="en-US" sz="1600" dirty="0"/>
              <a:t>Clutter</a:t>
            </a:r>
          </a:p>
          <a:p>
            <a:pPr marL="342900" indent="-342900">
              <a:buAutoNum type="arabicParenR"/>
            </a:pPr>
            <a:r>
              <a:rPr lang="en-US" sz="1600" dirty="0"/>
              <a:t>Jamming</a:t>
            </a:r>
          </a:p>
          <a:p>
            <a:pPr marL="342900" indent="-342900">
              <a:buAutoNum type="arabicParenR"/>
            </a:pPr>
            <a:r>
              <a:rPr lang="en-US" sz="1600" dirty="0"/>
              <a:t>Radar signal processing</a:t>
            </a:r>
          </a:p>
          <a:p>
            <a:pPr marL="342900" indent="-342900">
              <a:buAutoNum type="arabicParenR"/>
            </a:pPr>
            <a:r>
              <a:rPr lang="en-US" sz="1600" dirty="0"/>
              <a:t>Frequency modulator</a:t>
            </a:r>
          </a:p>
          <a:p>
            <a:pPr marL="342900" indent="-342900">
              <a:buAutoNum type="arabicParenR"/>
            </a:pPr>
            <a:r>
              <a:rPr lang="en-US" sz="1600" dirty="0"/>
              <a:t>Speed measurement</a:t>
            </a:r>
          </a:p>
          <a:p>
            <a:pPr marL="342900" indent="-342900">
              <a:buAutoNum type="arabicParenR"/>
            </a:pPr>
            <a:r>
              <a:rPr lang="en-US" sz="1600" dirty="0"/>
              <a:t>Pulse Doppler signal processing</a:t>
            </a:r>
          </a:p>
          <a:p>
            <a:pPr marL="342900" indent="-342900">
              <a:buAutoNum type="arabicParenR"/>
            </a:pPr>
            <a:r>
              <a:rPr lang="en-US" sz="1600" dirty="0"/>
              <a:t>Reduction of interference effects</a:t>
            </a:r>
          </a:p>
          <a:p>
            <a:pPr marL="342900" indent="-34290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45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448" y="2797175"/>
            <a:ext cx="3048002" cy="553998"/>
          </a:xfrm>
        </p:spPr>
        <p:txBody>
          <a:bodyPr/>
          <a:lstStyle/>
          <a:p>
            <a:r>
              <a:rPr lang="en-US" dirty="0"/>
              <a:t>Fig. Echo height above ground</a:t>
            </a:r>
          </a:p>
        </p:txBody>
      </p:sp>
      <p:pic>
        <p:nvPicPr>
          <p:cNvPr id="4" name="Picture 3" descr="https://upload.wikimedia.org/wikipedia/commons/thumb/b/b9/Radar-hauteur-en.svg/1024px-Radar-hauteur-en.svg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282033"/>
            <a:ext cx="3771901" cy="2171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164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628650" y="2720975"/>
            <a:ext cx="3227070" cy="276999"/>
          </a:xfrm>
        </p:spPr>
        <p:txBody>
          <a:bodyPr/>
          <a:lstStyle/>
          <a:p>
            <a:r>
              <a:rPr lang="en-US" dirty="0"/>
              <a:t>Fig. Continuous wave radar</a:t>
            </a:r>
          </a:p>
        </p:txBody>
      </p:sp>
      <p:pic>
        <p:nvPicPr>
          <p:cNvPr id="4" name="Picture 3" descr="https://upload.wikimedia.org/wikipedia/commons/thumb/0/07/Sonar_Principle_EN.svg/1024px-Sonar_Principle_EN.svg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67" y="811212"/>
            <a:ext cx="3428365" cy="183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3397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628650" y="2837705"/>
            <a:ext cx="3505200" cy="553998"/>
          </a:xfrm>
        </p:spPr>
        <p:txBody>
          <a:bodyPr/>
          <a:lstStyle/>
          <a:p>
            <a:r>
              <a:rPr lang="en-US" dirty="0"/>
              <a:t>Fig. Pulse Doppler signal processing</a:t>
            </a:r>
          </a:p>
        </p:txBody>
      </p:sp>
      <p:pic>
        <p:nvPicPr>
          <p:cNvPr id="4" name="Picture 3" descr="https://upload.wikimedia.org/wikipedia/en/thumb/a/af/Pulse_doppler_signal_processing.png/220px-Pulse_doppler_signal_processing.pn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1" y="434975"/>
            <a:ext cx="2209800" cy="2209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188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ADVANTAGE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7762" y="434975"/>
            <a:ext cx="4574574" cy="2971800"/>
          </a:xfrm>
        </p:spPr>
        <p:txBody>
          <a:bodyPr/>
          <a:lstStyle/>
          <a:p>
            <a:pPr marL="342900" indent="-342900"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can penetrate mediums such as clouds, fogs, mist and snow. 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signal can penetrate insulators. 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give the exact position of an object. 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determine the velocity of a target. 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measure the distance of an object.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tell the difference between stationary and moving targets. 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signals do not require a medium of transportation.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signals can target several objects simultaneously. 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for 3D Imaging based on the various angles of return. 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economical when doing small-scale map revision.</a:t>
            </a:r>
            <a:r>
              <a:rPr lang="en-US" sz="1400" dirty="0"/>
              <a:t> 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387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DISADVANTAGE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47648" y="358776"/>
            <a:ext cx="4562451" cy="2971800"/>
          </a:xfrm>
        </p:spPr>
        <p:txBody>
          <a:bodyPr/>
          <a:lstStyle/>
          <a:p>
            <a:pPr marL="342900" indent="-342900"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takes more time to lock on an object. </a:t>
            </a:r>
          </a:p>
          <a:p>
            <a:pPr marL="342900" indent="-342900"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has a wider beam range (Over 50ft Diameter). </a:t>
            </a:r>
          </a:p>
          <a:p>
            <a:pPr marL="342900" indent="-342900"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shorter range (200ft). </a:t>
            </a:r>
          </a:p>
          <a:p>
            <a:pPr marL="342900" indent="-342900"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oversensitive. </a:t>
            </a:r>
          </a:p>
          <a:p>
            <a:pPr marL="342900" indent="-342900"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very accurate.</a:t>
            </a:r>
          </a:p>
          <a:p>
            <a:pPr marL="342900" indent="-342900"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requires specialized training to analyze the data. </a:t>
            </a:r>
          </a:p>
          <a:p>
            <a:pPr marL="342900" indent="-342900"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cannot distinguish or resolve multiple targets. </a:t>
            </a:r>
          </a:p>
          <a:p>
            <a:pPr marL="342900" indent="-342900"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Readings may be falsified if the object is handheld. </a:t>
            </a:r>
          </a:p>
          <a:p>
            <a:pPr marL="342900" indent="-342900"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cannot differentiate the color of the object. </a:t>
            </a:r>
          </a:p>
          <a:p>
            <a:pPr marL="342900" indent="-342900"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cannot resolve the type of the object. 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846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CONCLUSION AND FUTURE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5300" y="434975"/>
            <a:ext cx="4592082" cy="2708434"/>
          </a:xfrm>
        </p:spPr>
        <p:txBody>
          <a:bodyPr/>
          <a:lstStyle/>
          <a:p>
            <a:r>
              <a:rPr lang="en-US" sz="1600" dirty="0"/>
              <a:t>1) Using  Ultra broadband multifunctional RF-system capabilities.</a:t>
            </a:r>
          </a:p>
          <a:p>
            <a:r>
              <a:rPr lang="en-US" sz="1600" dirty="0"/>
              <a:t>2) Connectivity via network capable operations up to orthogonal waveforms.</a:t>
            </a:r>
          </a:p>
          <a:p>
            <a:r>
              <a:rPr lang="en-US" sz="1600" dirty="0"/>
              <a:t>3) There is an emerging trend of MIMO antenna aperture set-ups.</a:t>
            </a:r>
          </a:p>
          <a:p>
            <a:r>
              <a:rPr lang="en-US" sz="1600" dirty="0"/>
              <a:t>4) MIMO approach has the general advantage that an instantaneous Field of View.</a:t>
            </a:r>
          </a:p>
          <a:p>
            <a:r>
              <a:rPr lang="en-US" sz="1600" dirty="0"/>
              <a:t>5) The variety of new possibilities provided by the future radar trends needs to be optimized by a flexible and modern radar resource management </a:t>
            </a:r>
          </a:p>
        </p:txBody>
      </p:sp>
    </p:spTree>
    <p:extLst>
      <p:ext uri="{BB962C8B-B14F-4D97-AF65-F5344CB8AC3E}">
        <p14:creationId xmlns:p14="http://schemas.microsoft.com/office/powerpoint/2010/main" val="533582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BIBLIOGRAPHY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64923" y="434975"/>
            <a:ext cx="4423953" cy="2754600"/>
          </a:xfrm>
        </p:spPr>
        <p:txBody>
          <a:bodyPr/>
          <a:lstStyle/>
          <a:p>
            <a:r>
              <a:rPr lang="en-US" sz="900" dirty="0"/>
              <a:t>1) </a:t>
            </a:r>
            <a:r>
              <a:rPr lang="en-US" sz="900" dirty="0" err="1"/>
              <a:t>M.L.Bencheikh</a:t>
            </a:r>
            <a:r>
              <a:rPr lang="en-US" sz="900" dirty="0"/>
              <a:t> and </a:t>
            </a:r>
            <a:r>
              <a:rPr lang="en-US" sz="900" dirty="0" err="1"/>
              <a:t>Y.Wang,”Combined</a:t>
            </a:r>
            <a:r>
              <a:rPr lang="en-US" sz="900" dirty="0"/>
              <a:t> Esprit </a:t>
            </a:r>
            <a:r>
              <a:rPr lang="en-US" sz="900" dirty="0" err="1"/>
              <a:t>rootmusic</a:t>
            </a:r>
            <a:r>
              <a:rPr lang="en-US" sz="900" dirty="0"/>
              <a:t> for </a:t>
            </a:r>
            <a:r>
              <a:rPr lang="en-US" sz="900" dirty="0" err="1"/>
              <a:t>doa-doad</a:t>
            </a:r>
            <a:r>
              <a:rPr lang="en-US" sz="900" dirty="0"/>
              <a:t> estimation in </a:t>
            </a:r>
            <a:r>
              <a:rPr lang="en-US" sz="900" dirty="0" err="1"/>
              <a:t>polarimetric</a:t>
            </a:r>
            <a:r>
              <a:rPr lang="en-US" sz="900" dirty="0"/>
              <a:t> </a:t>
            </a:r>
            <a:r>
              <a:rPr lang="en-US" sz="900" dirty="0" err="1"/>
              <a:t>bistatic</a:t>
            </a:r>
            <a:r>
              <a:rPr lang="en-US" sz="900" dirty="0"/>
              <a:t> MIMO radar” IREENA laboratory, </a:t>
            </a:r>
            <a:r>
              <a:rPr lang="en-US" sz="900" dirty="0" err="1"/>
              <a:t>Polytech</a:t>
            </a:r>
            <a:r>
              <a:rPr lang="en-US" sz="900" dirty="0"/>
              <a:t> Nantes, Nantes, France. Vol.22,109-117,2011</a:t>
            </a:r>
          </a:p>
          <a:p>
            <a:r>
              <a:rPr lang="en-US" sz="900" dirty="0"/>
              <a:t>2) </a:t>
            </a:r>
            <a:r>
              <a:rPr lang="en-US" sz="900" dirty="0" err="1"/>
              <a:t>Y.Huang</a:t>
            </a:r>
            <a:r>
              <a:rPr lang="en-US" sz="900" dirty="0"/>
              <a:t> and </a:t>
            </a:r>
            <a:r>
              <a:rPr lang="en-US" sz="900" dirty="0" err="1"/>
              <a:t>P.V.Brennan,”FMCW</a:t>
            </a:r>
            <a:r>
              <a:rPr lang="en-US" sz="900" dirty="0"/>
              <a:t> based MIMO imaging radar for </a:t>
            </a:r>
            <a:r>
              <a:rPr lang="en-US" sz="900" dirty="0" err="1"/>
              <a:t>martime</a:t>
            </a:r>
            <a:r>
              <a:rPr lang="en-US" sz="900" dirty="0"/>
              <a:t> navigation”, Department of electronics and electrical engineering, University college London. Vol.115,327-342,2011</a:t>
            </a:r>
          </a:p>
          <a:p>
            <a:r>
              <a:rPr lang="en-US" sz="900" dirty="0"/>
              <a:t>3) </a:t>
            </a:r>
            <a:r>
              <a:rPr lang="en-US" sz="900" dirty="0" err="1"/>
              <a:t>Waheed</a:t>
            </a:r>
            <a:r>
              <a:rPr lang="en-US" sz="900" dirty="0"/>
              <a:t> </a:t>
            </a:r>
            <a:r>
              <a:rPr lang="en-US" sz="900" dirty="0" err="1"/>
              <a:t>U.Bajwa</a:t>
            </a:r>
            <a:r>
              <a:rPr lang="en-US" sz="900" dirty="0"/>
              <a:t>, Member, IEEE, </a:t>
            </a:r>
            <a:r>
              <a:rPr lang="en-US" sz="900" dirty="0" err="1"/>
              <a:t>Kfir</a:t>
            </a:r>
            <a:r>
              <a:rPr lang="en-US" sz="900" dirty="0"/>
              <a:t> </a:t>
            </a:r>
            <a:r>
              <a:rPr lang="en-US" sz="900" dirty="0" err="1"/>
              <a:t>Gedalyahu</a:t>
            </a:r>
            <a:r>
              <a:rPr lang="en-US" sz="900" dirty="0"/>
              <a:t>, and </a:t>
            </a:r>
            <a:r>
              <a:rPr lang="en-US" sz="900" dirty="0" err="1"/>
              <a:t>Yonina</a:t>
            </a:r>
            <a:r>
              <a:rPr lang="en-US" sz="900" dirty="0"/>
              <a:t> </a:t>
            </a:r>
            <a:r>
              <a:rPr lang="en-US" sz="900" dirty="0" err="1"/>
              <a:t>C.Eldar</a:t>
            </a:r>
            <a:r>
              <a:rPr lang="en-US" sz="900" dirty="0"/>
              <a:t>, Senior member, </a:t>
            </a:r>
            <a:r>
              <a:rPr lang="en-US" sz="900" dirty="0" err="1"/>
              <a:t>IEEE,”Identification</a:t>
            </a:r>
            <a:r>
              <a:rPr lang="en-US" sz="900" dirty="0"/>
              <a:t> of parametric </a:t>
            </a:r>
            <a:r>
              <a:rPr lang="en-US" sz="900" dirty="0" err="1"/>
              <a:t>underspread</a:t>
            </a:r>
            <a:r>
              <a:rPr lang="en-US" sz="900" dirty="0"/>
              <a:t> linear systems and super-resolution radar”, December 2010</a:t>
            </a:r>
          </a:p>
          <a:p>
            <a:r>
              <a:rPr lang="en-US" sz="900" dirty="0"/>
              <a:t>4) </a:t>
            </a:r>
            <a:r>
              <a:rPr lang="en-US" sz="900" dirty="0" err="1"/>
              <a:t>W.Wiesbeck</a:t>
            </a:r>
            <a:r>
              <a:rPr lang="en-US" sz="900" dirty="0"/>
              <a:t>, Marwan </a:t>
            </a:r>
            <a:r>
              <a:rPr lang="en-US" sz="900" dirty="0" err="1"/>
              <a:t>Younis</a:t>
            </a:r>
            <a:r>
              <a:rPr lang="en-US" sz="900" dirty="0"/>
              <a:t>,”Radar 2020: future of radar systems”, conference paper. July2015.</a:t>
            </a:r>
          </a:p>
          <a:p>
            <a:r>
              <a:rPr lang="en-US" sz="900" dirty="0"/>
              <a:t>5) </a:t>
            </a:r>
            <a:r>
              <a:rPr lang="en-US" sz="900" dirty="0" err="1"/>
              <a:t>Vinay</a:t>
            </a:r>
            <a:r>
              <a:rPr lang="en-US" sz="900" dirty="0"/>
              <a:t> </a:t>
            </a:r>
            <a:r>
              <a:rPr lang="en-US" sz="900" dirty="0" err="1"/>
              <a:t>Jangir</a:t>
            </a:r>
            <a:r>
              <a:rPr lang="en-US" sz="900" dirty="0"/>
              <a:t>, Manish </a:t>
            </a:r>
            <a:r>
              <a:rPr lang="en-US" sz="900" dirty="0" err="1"/>
              <a:t>kumawat</a:t>
            </a:r>
            <a:r>
              <a:rPr lang="en-US" sz="900" dirty="0"/>
              <a:t>, Manish </a:t>
            </a:r>
            <a:r>
              <a:rPr lang="en-US" sz="900" dirty="0" err="1"/>
              <a:t>kumar</a:t>
            </a:r>
            <a:r>
              <a:rPr lang="en-US" sz="900" dirty="0"/>
              <a:t> </a:t>
            </a:r>
            <a:r>
              <a:rPr lang="en-US" sz="900" dirty="0" err="1"/>
              <a:t>sharma</a:t>
            </a:r>
            <a:r>
              <a:rPr lang="en-US" sz="900" dirty="0"/>
              <a:t>,”Military radar system”, IJTSRD paper. Vol.3, Mar-Apr 2019.</a:t>
            </a:r>
          </a:p>
          <a:p>
            <a:r>
              <a:rPr lang="en-US" sz="900" dirty="0"/>
              <a:t>6) </a:t>
            </a:r>
            <a:r>
              <a:rPr lang="en-US" sz="900" dirty="0" err="1"/>
              <a:t>Satyabrata</a:t>
            </a:r>
            <a:r>
              <a:rPr lang="en-US" sz="900" dirty="0"/>
              <a:t> </a:t>
            </a:r>
            <a:r>
              <a:rPr lang="en-US" sz="900" dirty="0" err="1"/>
              <a:t>Sen</a:t>
            </a:r>
            <a:r>
              <a:rPr lang="en-US" sz="900" dirty="0"/>
              <a:t>, Member IEEE,”</a:t>
            </a:r>
            <a:r>
              <a:rPr lang="en-US" sz="900" dirty="0" err="1"/>
              <a:t>Multiobjective</a:t>
            </a:r>
            <a:r>
              <a:rPr lang="en-US" sz="900" dirty="0"/>
              <a:t> optimization of OFDM radar waveform for target detection”, IEEE transaction of signal processing. Vol.59, No.2, February 2011.</a:t>
            </a:r>
          </a:p>
          <a:p>
            <a:r>
              <a:rPr lang="en-US" sz="900" dirty="0"/>
              <a:t>7) Luca </a:t>
            </a:r>
            <a:r>
              <a:rPr lang="en-US" sz="900" dirty="0" err="1"/>
              <a:t>Bombini</a:t>
            </a:r>
            <a:r>
              <a:rPr lang="en-US" sz="900" dirty="0"/>
              <a:t>, Paolo Medici, ”Radar-Vision fusion for vehicle </a:t>
            </a:r>
            <a:r>
              <a:rPr lang="en-US" sz="900" dirty="0" err="1"/>
              <a:t>detection”,University</a:t>
            </a:r>
            <a:r>
              <a:rPr lang="en-US" sz="900" dirty="0"/>
              <a:t> de </a:t>
            </a:r>
            <a:r>
              <a:rPr lang="en-US" sz="900" dirty="0" err="1"/>
              <a:t>parma</a:t>
            </a:r>
            <a:r>
              <a:rPr lang="en-US" sz="900" dirty="0"/>
              <a:t>. June 2004</a:t>
            </a:r>
          </a:p>
          <a:p>
            <a:r>
              <a:rPr lang="en-US" sz="900" dirty="0"/>
              <a:t>8) </a:t>
            </a:r>
            <a:r>
              <a:rPr lang="en-US" sz="900" dirty="0" err="1"/>
              <a:t>Satyabrata</a:t>
            </a:r>
            <a:r>
              <a:rPr lang="en-US" sz="900" dirty="0"/>
              <a:t> </a:t>
            </a:r>
            <a:r>
              <a:rPr lang="en-US" sz="900" dirty="0" err="1"/>
              <a:t>Sen</a:t>
            </a:r>
            <a:r>
              <a:rPr lang="en-US" sz="900" dirty="0"/>
              <a:t> and </a:t>
            </a:r>
            <a:r>
              <a:rPr lang="en-US" sz="900" dirty="0" err="1"/>
              <a:t>Arye</a:t>
            </a:r>
            <a:r>
              <a:rPr lang="en-US" sz="900" dirty="0"/>
              <a:t> </a:t>
            </a:r>
            <a:r>
              <a:rPr lang="en-US" sz="900" dirty="0" err="1"/>
              <a:t>Nehorai</a:t>
            </a:r>
            <a:r>
              <a:rPr lang="en-US" sz="900" dirty="0"/>
              <a:t>, Fellow, IEEE, “</a:t>
            </a:r>
            <a:r>
              <a:rPr lang="en-US" sz="900" dirty="0" err="1"/>
              <a:t>Sparsity</a:t>
            </a:r>
            <a:r>
              <a:rPr lang="en-US" sz="900" dirty="0"/>
              <a:t>-Based multi tracking using OFDM radar”, IEEE transaction on signal processing, Vol.59, No.4, April 2011.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64801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</TotalTime>
  <Words>975</Words>
  <Application>Microsoft Office PowerPoint</Application>
  <PresentationFormat>Custom</PresentationFormat>
  <Paragraphs>122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Times New Roman</vt:lpstr>
      <vt:lpstr>Office Theme</vt:lpstr>
      <vt:lpstr>MILITARY RADAR   </vt:lpstr>
      <vt:lpstr>INRODUCTION</vt:lpstr>
      <vt:lpstr>INTRODUCTION</vt:lpstr>
      <vt:lpstr>HISTORY</vt:lpstr>
      <vt:lpstr>LITERATURE SURVEY</vt:lpstr>
      <vt:lpstr>LITERATURE SURVEY</vt:lpstr>
      <vt:lpstr>IMPLEMENTATION</vt:lpstr>
      <vt:lpstr>IMPLEMENTATION</vt:lpstr>
      <vt:lpstr>APPLICATION</vt:lpstr>
      <vt:lpstr>APPLICATION</vt:lpstr>
      <vt:lpstr>APPLICATION</vt:lpstr>
      <vt:lpstr>APPLICATION</vt:lpstr>
      <vt:lpstr>EVALUATION</vt:lpstr>
      <vt:lpstr>EVALUATION</vt:lpstr>
      <vt:lpstr>EVALUATION</vt:lpstr>
      <vt:lpstr>EVALUATION</vt:lpstr>
      <vt:lpstr>ADVANTAGE</vt:lpstr>
      <vt:lpstr>DISADVANTAGE</vt:lpstr>
      <vt:lpstr>CONCLUSION AND FUTURE WORK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the Title of the Project</dc:title>
  <dc:creator>Aditya B.P.</dc:creator>
  <cp:lastModifiedBy>Shubodaya Kumar</cp:lastModifiedBy>
  <cp:revision>171</cp:revision>
  <dcterms:created xsi:type="dcterms:W3CDTF">2017-11-01T18:50:57Z</dcterms:created>
  <dcterms:modified xsi:type="dcterms:W3CDTF">2026-01-21T18:12:06Z</dcterms:modified>
</cp:coreProperties>
</file>